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19"/>
    <p:sldId id="269" r:id="rId20"/>
    <p:sldId id="261" r:id="rId7"/>
    <p:sldId id="262" r:id="rId8"/>
    <p:sldId id="272" r:id="rId23"/>
    <p:sldId id="263" r:id="rId9"/>
    <p:sldId id="264" r:id="rId10"/>
    <p:sldId id="270" r:id="rId21"/>
    <p:sldId id="271" r:id="rId22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Scanned, Guide-Signed Title Slide (Mandatory)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Review-II, obtain the guide's signature with date on the title slide (next slide).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photograph the signed title slide clearly.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slide with the scanned copy, so that it remains Slide 1 of the presentation.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requirement applies to every review of Project-I (2026).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HIS Management Agent with DPDP-Compliant Web Scraping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Avanindra (23BLC1089) · Ananya (23BLC1017)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Manoj Kumar,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— 30.09.2026 (40 Marks, 40%)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75% Work Completion &amp; Implementation Progress.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12–15 minutes.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contents: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scanned title slide (Slide 1)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problem recap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— minimum 15 recent papers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— modules, algorithms, code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(75%), challenges and remaining work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split-up: Technical depth (15), Implementation quality (15), Results analysis (5), Presentation skills (3), Q&amp;A handling (2).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recap: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Information Systems hold identifiers, clinical, contact and financial data of real patients; the techniques used to extract data from them are judged on speed, robustness and coverage — never on DPDP Act 2023 compliance. Compliance stays an assertion, so techniques cannot be compared on it.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DPDP compliance a measured, per-technique property: every extraction scored on the same seven principle-based rules, paired with a reproducible cost measure, and verified against what the extraction actually produces.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whole chain running end to end — a credentialed portal scraped by a real browser, scored, exported to HL7 v2 / FHIR with identifiers pseudonymised and audited — and a rule-based staff assistant gated by the same policy.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 after Review-I feedback: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time, as asked: a cost profile per technique — fields pulled, fetches, real browser page loads, excess ratio, coverage, wall-clock (deterministic metrics lead; wall-clock is hardware-dependent) — and a record axis: a task about one patient is scored on the records read, not only the fields.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is now ours against publicly available AI models (claude-haiku-4-5, claude-sonnet-5, gemini-3.1-flash-lite), briefed with the job, the purpose, the field names — never a value — and what the deployment provides; unaided, told the Act, and handed the purpose policy itself; decisions recorded, replayed, and repeated so determinism is a measured column — every repeat scored. Two harder measures added: manifest veracity (declared vs demonstrable, with four controls demonstrated by the pipeline rather than attested) and trap tasks whose wording invites a violation. The hand-written baseline stands, as the panel agreed most deployed systems sit there.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is rule-based: a fixed function registry, no LLM, no training — answering the Review-I question of how it is trained: it is not. Heterogeneity is answered by discovery: module layers are inferred from field names, never read from labels.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Ruchitaa et al., 2023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Web Scraping Tools and Techniques: A Brief Survey — ICITIIT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Survey / taxonomy of scraping tools and methods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Broad catalogue; no domain-specific (HIS) use and no compliance axis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Huang et al., 2024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AutoScraper: A Progressive Understanding Web Agent — EMNLP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Two-stage LLM agent using HTML hierarchy + cross-page similarity; executability metric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SOTA scraper generation, but evaluated only on executability / coverage — no data protection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Mansour et al., 2026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AXE: Low-Cost Cross-Domain Web Structured Information Extraction — arXiv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DOM-tree pruning + Grounded XPath Resolution feeding a 0.6B LLM; zero-shot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F1 88.1% on SWDE at low cost; no compliance modelling, not applied to credentialed domains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Bohra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WebLists: Structured Extraction from Interactive Sites (BardeenAgent) — arXiv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200-task benchmark; agent converts execution into replayable programs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Recall 31%→66%; regulated / enterprise contexts and privacy risk left unaddressed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Wang et al., 2026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Co-Scraper: Query-Aware DOM Pruning and Reusable Scraper Synthesis — arXiv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Two-stage query-aware pruning + extraction-strategy induction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F1 94.78% SWDE, ~90% reuse; optimises efficiency only — no purpose-limitation notion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references over three slides; full IEEE list on the References slide. [1]–[5]: scraping techniques — evaluated on executability, coverage and cost, never on what they should have taken.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20116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A · Sources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portal · export · synthetic
(not ours to control)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892808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880360" y="141732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B · Acquisition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one HISDataSource;
browser / files / mock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1892808"/>
            <a:ext cx="320040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49240" y="141732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C · Semantics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field → layer → DPDP
category; infer_layer()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1892808"/>
            <a:ext cx="320041" cy="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818120" y="1417320"/>
            <a:ext cx="233172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D · Extraction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task → technique →
manifest + records (metered)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79408" y="2377440"/>
            <a:ext cx="0" cy="758952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80360" y="3154680"/>
            <a:ext cx="21488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E · Scoring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7 rules · benchmark
compliance × cost · purpose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3154680"/>
            <a:ext cx="21488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F · Export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pseudonymise → HL7 v2 /
FHIR → audit the artefacts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154680"/>
            <a:ext cx="23317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G · Guidance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recognise → gate →
collect → instruct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79408" y="3136392"/>
            <a:ext cx="0" cy="18288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50208" y="2807208"/>
            <a:ext cx="5029200" cy="0"/>
          </a:xfrm>
          <a:prstGeom prst="line">
            <a:avLst/>
          </a:prstGeom>
          <a:ln>
            <a:solidFill>
              <a:srgbClr val="1D2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50208" y="2807208"/>
            <a:ext cx="0" cy="347472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19088" y="2807208"/>
            <a:ext cx="0" cy="347472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880360" y="4892040"/>
            <a:ext cx="7269480" cy="868680"/>
          </a:xfrm>
          <a:prstGeom prst="rect">
            <a:avLst/>
          </a:prstGeom>
          <a:solidFill>
            <a:srgbClr val="EEF0F8"/>
          </a:solidFill>
          <a:ln w="15875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1D2F82"/>
                </a:solidFill>
                <a:latin typeface="Calibri"/>
              </a:rPr>
              <a:t>H · Policy — one table, three readers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Calibri"/>
              </a:rPr>
              <a:t>3 non-nested purposes · role = purposes ∩ interop artefacts · 7 principles (PL-01 → DM-01 → SS-01)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950208" y="4206240"/>
            <a:ext cx="0" cy="68580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419088" y="4206240"/>
            <a:ext cx="0" cy="68580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79408" y="4206240"/>
            <a:ext cx="0" cy="685800"/>
          </a:xfrm>
          <a:prstGeom prst="line">
            <a:avLst/>
          </a:prstGeom>
          <a:ln w="19050">
            <a:solidFill>
              <a:srgbClr val="1D2F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154680"/>
            <a:ext cx="2103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Calibri"/>
              </a:rPr>
              <a:t>Adapter boundary</a:t>
            </a:r>
          </a:p>
          <a:p>
            <a:r>
              <a:rPr sz="1050" b="0">
                <a:solidFill>
                  <a:srgbClr val="000000"/>
                </a:solidFill>
                <a:latin typeface="Calibri"/>
              </a:rPr>
              <a:t>Nothing downstream of B knows which source it got. A new HIS is a new adapter, not a downstream rewrite.</a:t>
            </a:r>
          </a:p>
          <a:p>
            <a:r>
              <a:rPr sz="1050" b="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050" b="0">
                <a:solidFill>
                  <a:srgbClr val="000000"/>
                </a:solidFill>
                <a:latin typeface="Calibri"/>
              </a:rPr>
              <a:t>Why one project</a:t>
            </a:r>
          </a:p>
          <a:p>
            <a:r>
              <a:rPr sz="1050" b="0">
                <a:solidFill>
                  <a:srgbClr val="000000"/>
                </a:solidFill>
                <a:latin typeface="Calibri"/>
              </a:rPr>
              <a:t>H scores the extraction (E), gates what leaves (F), and gates what a person may be told (G).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Runs as one command: scripts/run_pipeline.py — portal → discover → benchmark → normalise + audit → purpose → assistant → retain (~2 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developed and integrated (src/, 309 tests, CI diffs the regenerated benchmark):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compliance/ — models (manifest, valueless records, record scope), policy (3 non-nested purposes), roles (role = purposes ∩ interop artefacts; authorise()), 7 rules, benchmark (compliance × cost × veracity × traps × stability), purpose_matrix, capabilities (register: demonstrated vs attested), audit (the harness logs every run), retention (sidecar + purge), pseudonymise (HMAC tokens), handling (real-data gate).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extraction/ — HISDataSource interface (transport observed, where= for one patient); adapters mock / portal (Playwright over TLS; search box) / dataset (CSV + Excel, column map, per-file overrides, day-first dates, values kept as text, per-concept files stacked); techniques compliant / ai_agent (one agent = model × briefing; recorded, replayed, rationed) / unconstrained; metering (fields, fetches, pages, records); tier2 browser + navigation discovery.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interop/ — HL7 v2 (ADT, ORM, ORU, DFT) and FHIR R4 (12 resources incl. AuditEvent) shapers; normalise + export audit. agent/ — 13-function registry, session state machine, grounded guidance. tools/mock_portal — the Flask fixture built as a system we do not control. scripts/rehearse_day_one.py — the real-data procedure rehearsed on a hospital-shaped export, with a leak audit. tools/build_review_pages.py — four offline demo pages built from real runs.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scoring: each principle → 0–1 with findings; weighted aggregate (21 alternative weightings never put another technique above ours). DM-01 on two axes: categories beyond the purpose, and records read beyond the patient's own. Excess ratio = distinct fields pulled ÷ required; coverage = needed fields obtained ÷ needed.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 = score after removing declarations the register cannot back; a control counts as demonstrated only when the run produced its evidence (observed TLS, audit event, export audit, retention sidecar). Layer inference: argmax over layers of catalogue-explained field names — the same for a scraped module and an exported file. Role gate: lawful purpose → necessity → access control; the first failure names its rule.</a:t>
            </a:r>
            <a:endParaRPr lang="en-US" sz="15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D2F82"/>
                </a:solidFill>
                <a:latin typeface="Consolas"/>
              </a:rPr>
              <a:t>def authorise(role, purpose, artefacts):                       # compliance/roles.py</a:t>
            </a:r>
          </a:p>
          <a:p>
            <a:r>
              <a:rPr sz="1050" b="0">
                <a:solidFill>
                  <a:srgbClr val="1D2F82"/>
                </a:solidFill>
                <a:latin typeface="Consolas"/>
              </a:rPr>
              <a:t>    if purpose not in role_policy(role).purposes:  return deny("PL-01")   # lawful purpose for this role?</a:t>
            </a:r>
          </a:p>
          <a:p>
            <a:r>
              <a:rPr sz="1050" b="0">
                <a:solidFill>
                  <a:srgbClr val="1D2F82"/>
                </a:solidFill>
                <a:latin typeface="Consolas"/>
              </a:rPr>
              <a:t>    if categories(artefacts) - policy_for(purpose).allowed_categories:  return deny("DM-01")   # necessary?</a:t>
            </a:r>
          </a:p>
          <a:p>
            <a:r>
              <a:rPr sz="1050" b="0">
                <a:solidFill>
                  <a:srgbClr val="1D2F82"/>
                </a:solidFill>
                <a:latin typeface="Consolas"/>
              </a:rPr>
              <a:t>    if artefacts - role_policy(role).artefacts:    return deny("SS-01")   # does the role handle these?</a:t>
            </a:r>
          </a:p>
          <a:p>
            <a:r>
              <a:rPr sz="1050" b="0">
                <a:solidFill>
                  <a:srgbClr val="1D2F82"/>
                </a:solidFill>
                <a:latin typeface="Consolas"/>
              </a:rPr>
              <a:t>    return permit()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00000"/>
                </a:solidFill>
                <a:latin typeface="Calibri"/>
              </a:rPr>
              <a:t>9 techniques (one row per model, at the briefing that hands it the purpose policy), 4 extraction tasks, the same login-gated portal scraped by a real browser (20 records per module, 10 per page); every run scored on the identical seven rules; cost measured as real page loads. The techniques differ only in how they treat personal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920240"/>
                <a:gridCol w="2377440"/>
                <a:gridCol w="4142232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 (excess · coverage · pages · traps)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compliance-aware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1.000  ·  7/7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1.00 · 1.00 · 32  ·  traps held 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Pulls what the purpose makes necessary; full manifest; identifiers pseudonymised on export.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ai agent: gemini-3.1-flash-lite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0.990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1.83 · 0.83 · 35  ·  traps held 0/1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Public model; decides pull and manifest from field names and the purpose policy; recorded, replayed.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ai agent: claude-haiku-4-5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0.988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1.78 · 0.94 · 36  ·  traps held 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Public model; decides pull and manifest from field names and the purpose policy; recorded, replayed.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ai agent: claude-sonnet-5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0.988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2.00 · 0.89 · 55  ·  traps held 0/1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Public model; decides pull and manifest from field names and the purpose policy; recorded, replayed.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unconstrained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0.114  ·  0/7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7.56 · 1.00 · 440  ·  traps held 0/1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Every field of every module; no purpose, no manifest; declares only the transport it was observed 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091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Reading the table. The baseline loads fourteen times the pages for the same coverage; its surplus is exactly the overreach DM-01 penalises, so compliance and cost move together rather than trading off.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The AI agents are real public models, briefed with field names — never a value — and, in the row shown, handed the purpose policy itself. In memory (8 tasks × 5 repeats, 2 for claude-haiku-4-5 and claude-sonnet-5; every repeat scored): claude-haiku-4-5 held 8 of 8 trap runs (0 of 4 unaided), did 79% of the job and reproduced its first decision in 0 of 8 repeats; claude-sonnet-5 held 6 of 8 trap runs (0 of 4 unaided), did 81% of the job and reproduced its first decision in 6 of 8 repeats; gemini-3.1-flash-lite held 10 of 20 trap runs (0 of 20 unaided or told the Act), did 74% of the job and reproduced its first decision in 21 of 32 repeats. Ours held 20 of 20 and reproduced itself in 32 of 32 — it reads the policy, not the prose, and repeats itself. Per-rule columns and the full model × briefing grid: docs/benchmark_results/.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00000"/>
                </a:solidFill>
                <a:latin typeface="Calibri"/>
              </a:rPr>
              <a:t>The same extraction judged under every purpose — records, manifest and rules identical; only what the data was for changes. And the export audited, not trusted: the manifest claims pseudonymisation; we searched what actually left for the raw identifiers.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011680"/>
                <a:gridCol w="2651760"/>
                <a:gridCol w="2221992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Care pull (MRN, DOB, sex, diagnosis, medication, allergy)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under care_coordination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under billing_settlement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under patient_registration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compliance score · rules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1.000  ·  7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0.833  ·  5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0.881  ·  5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lawful for this purpose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out of scope: clinical, quasi-identifier; notice does not cover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out of scope: clinical; notice does not cover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749039"/>
          <a:ext cx="1109167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593592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Export audit (HL7 v2 + FHIR), one patient's summary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Pseudonymisation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Raw identifiers found in the export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compliance-aware (ours) — reads that patient through the search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declared → applied (HMAC tokens, PSN-…)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none  ·  6 artefacts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unconstrained (baseline) — reads every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not declared →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60 of 60  ·  340 artefacts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Calibri"/>
              </a:rPr>
              <a:t>Care may see clinical data and not billing data; billing may see billing data and not clinical data. Neither purpose is stricter — "out of scope" means not necessary for this purpose. Tokens are keyed hashes: stable within one export, unlinkable across exports, not reversible.</a:t>
            </a:r>
          </a:p>
          <a:p>
            <a:r>
              <a:rPr sz="1100" b="0">
                <a:solidFill>
                  <a:srgbClr val="000000"/>
                </a:solidFill>
                <a:latin typeface="Calibri"/>
              </a:rPr>
              <a:t>Storage limitation is done, not declared: every export carries a delete-after sidecar (30 d for care), the purge erases the files on the day and writes the audit event; the run itself was logged by the harness, not by the technique — the log, the observed TLS, the export audit and the sidecar are the four controls the tables count as demonstrated.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solutions: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HIS access — built a login-gated mock portal as a system we do not control (form login, session cookie, paginated HTML, robots.txt), so the browser layer is real and transfers as selectors + aliases.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cost honestly — wall-clock is hardware-dependent, so deterministic metrics lead (fields, page loads, excess ratio) and coverage guards against pulling nothing.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our own claims — the manifest is scored against what the run produced (export audit, observed transport, harness-written audit log, retention sidecar), not against the declaration; and the real-data procedure was rehearsed on a hospital-shaped export before any real data existed (four defects found), then run on a public export we had never seen (five more) — each fixed and pinned by a test.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models without paying — the recorder is paced, budgeted per day and breadth-first, and a model enters the tables after one pass; a free-tier flagship served only one or two calls a day, so it was dropped; the Claude models were recorded through a subscription's command line (headless, our brief as the whole system prompt, no tools, effort pinned), no API credit spent. The model never sees a patient value, so the recordings replay on the real data unchanged.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(ledger at 99%, PLAN.md §5):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the hospital dataset: the evaluation stands on synthetic data, the live portal and a public export we never saw. If an export is released, it is one column map and the same pipeline, and its slide rebuilds itself. Report: eight chapters and five appendices written, section references verified against the Gazette text, every table generated from the results and checked in CI. Manuscript: a complete first draft, to be fitted to the venue chosen with the guide — the one remaining point on the ledger.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 completion by Review-III (28.10.2026):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venue chosen with the guide; the manuscript to its template and page budget. Weeks 2–3: the report assembled — front matter, cross-references, a final read for length. Week 4: every result regenerated from a clean checkout, rehearsal.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N. R. Ruchitaa, S. Nandhakumar Raj, and M. Vijayalakshmi, "Web Scrapping Tools and Techniques: A Brief Survey," in Proc. 2023 4th Int. Conf. Innovative Trends in Information Technology (ICITIIT), 2023.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W. Huang et al., "AutoScraper: A Progressive Understanding Web Agent for Web Scraper Generation," in Proc. 2024 Conf. Empirical Methods in Natural Language Processing (EMNLP), Miami, FL, USA, 2024, pp. 2371–2389.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Mansour, K. W. Alshaer, and M. Elsaban, "AXE: Low-Cost Cross-Domain Web Structured Information Extraction," arXiv:2602.01838, 2026.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A. Bohra et al., "WebLists: Extracting Structured Information from Complex Interactive Websites Using Executable LLM Agents," arXiv:2504.12682,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Wang, J. Qiu, W. Zhang, and C. He, "Co-Scraper: Query-Aware DOM Pruning and Reusable Scraper Synthesis for Lightweight Web Data Extraction," arXiv:2606.14821, 2026.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Gundelach, M. Mühlhauser, and D. Herrmann, "Detecting Bot Detection: Prevalence, Techniques, and Implications for Web Measurement Research," arXiv:2606.14525,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Kim, K. Bock, C. Luo, A. Liswood, C. Poroslay, and E. Wenger, "Scrapers Selectively Respect robots.txt Directives: Evidence From a Large-Scale Empirical Study," in Proc. 2025 ACM Internet Measurement Conf. (IMC), Madison, WI, USA, 2025, pp. 541–557, doi:10.1145/3730567.3764471.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A. Purnawan and K. Surendro, "Building Enterprise Architecture for Hospital Information System," in Proc. 2016 4th Int. Conf. Information and Communication Technology (ICoICT), Bandung, Indonesia, 2016.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C. N. Vorisek, M. Lehne, S. A. I. Klopfenstein, P. J. Mayer, A. Bartschke, T. Haese, and S. Thun, "Fast Healthcare Interoperability Resources (FHIR) for Interoperability in Health Research: Systematic Review," JMIR Medical Informatics, vol. 10, no. 7, art. e35724, 2022, doi:10.2196/35724.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V. Khanna and A. Kotwal, "Examining the Significance of the Digital Personal Data Protection Act, 2023 in the Context of the Healthcare Industry: A Comprehensive Analysis," Discover Public Health, vol. 22, art. 381, 2025, doi:10.1186/s12982-025-00757-6.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A. Sood, D. Mishra, V. Surya, H. Singh, R. Sundaresan, D. Pal, R. Dharmaraju, R. Satish, S. Mishra, N. A. Chavan, S. Mondal, P. Duggal, and V. K. Iyer, "Challenges and Recommendations for Enhancing Digital Data Protection in the Indian Medical Research and Healthcare Sector," npj Digital Medicine, vol. 8, art. 48, 2025, doi:10.1038/s41746-025-01448-x.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M. A. Brown, A. Gruen, G. Maldoff, S. Messing, Z. Sanderson, and M. Zimmer, "Web Scraping for Research: Legal, Ethical, Institutional, and Scientific Considerations," Big Data &amp; Society,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The Digital Personal Data Protection Act, 2023, Act No. 22 of 2023, The Gazette of India, 11 Aug. 2023.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C. V. Cook, "Tokenization techniques for privacy-preserving healthcare data: tokenization nuts and bolts," Frontiers in Drug Safety and Regulation, vol. 5, art. 1599217, 2025, doi:10.3389/fdsfr.2025.1599217.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M. A. de Carvalho Junior and P. Bandiera-Paiva, "Health Information System Role-Based Access Control Current Security Trends and Challenges," Journal of Healthcare Engineering, vol. 2018, art. 6510249, 2018, doi:10.1155/2018/6510249.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A. Rule, M. F. Chiang, and M. R. Hribar, "Using electronic health record audit logs to study clinical activity: a systematic review of aims, measures, and methods," Journal of the American Medical Informatics Association, vol. 27, no. 3, pp. 480–490, 2020, doi:10.1093/jamia/ocz196.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format. [1]–[12] and [14]–[16] are cited on the literature slides; [13] on the problem, methodology and results slides.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Gundelach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Detecting Bot Detection: Prevalence, Techniques, Implications — arXiv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Systematic review (2020–25) of bot-detection at top security / web venues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Maps the detection landscape; authenticated / credentialed portal scraping under-studied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Kim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Scrapers Selectively Respect robots.txt Directives — ACM IMC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Internet-scale measurement of robots.txt compliance in the wild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Compliance observed after the fact, never designed into the technique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Purnawan &amp; Surendro, 2016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Building Enterprise Architecture for Hospital Information System — ICoICT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Enterprise-architecture modelling of HIS structure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Useful layer model; predates LLM extraction, no data-egress / compliance view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Vorisek et al., 2022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FHIR for Interoperability in Health Research: Systematic Review — JMIR Med. Inform.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49 studies on FHIR use cases, implementation, goals and limitations in research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Interoperability ≠ compliant extraction; standards are silent on lawful scraping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Khanna &amp; Kotwal,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Significance of the DPDP Act 2023 for the Healthcare Industry — Discover Public Health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Doctrinal analysis of DPDP obligations for healthcare entities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Legal analysis only; no technical or measurable operationalisation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[6]–[7]: the web-measurement view — compliance observed after the fact. [8]–[9]: HIS structure and interoperability standards, silent on lawful extraction. [10]: the Act read for healthcare, doctrinally.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Sood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Digital Data Protection in Indian Medical Research and Healthcare — npj Digital Medicine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Synthesis of challenges and recommendations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Recommendations not translated into checkable controls on data-collection pipelines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Brown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Web Scraping for Research: Legal, Ethical, Institutional and Scientific Considerations — Big Data &amp; Society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Multi-dimensional qualitative framework (contract, CFAA, IP, privacy, IRB, validity)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A checklist, not a scored per-technique benchmark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Cook,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Tokenization Techniques for Privacy-Preserving Healthcare Data — Frontiers in Drug Safety and Regulation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Deterministic vs referential (keyed, salted) tokenisation of health identifiers; linkage vs re-identification risk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Mechanism only; no check that an export actually carries tokens — our audit verifies it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de Carvalho Jr. &amp; Bandiera-Paiva, 2018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HIS Role-Based Access Control: Current Security Trends and Challenges — J. Healthcare Engineering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Industry-focused review of RBAC in health information systems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Static role lists both over- and under-grant; no derivation of scope from purpose — ours derives it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Rule, Chiang &amp; Hribar, 2020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Using EHR Audit Logs to Study Clinical Activity: A Systematic Review — JAMIA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85 studies using audit logs as the record of who did what in the EHR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Logs used for workflow research, never to demonstrate compliance; our fifth layer models them for that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[11]–[12]: recommendations and checklists, not checkable controls. [14]–[16]: the three mechanisms we build on — tokenisation, RBAC, audit logs — each described, none used to score a technique. [13] is the Act.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 — Discovery &amp; Assistant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The scraper is never told the portal's layout. It crawls from the home page and infers each module's HIS layer from the field names it finds — the URL says "registration", the scraper concludes patient administration. With display labels instead of field names it cannot classify the module; with a label→field map it is back at 100% and nothing downstream changes. The same inference classifies an exported spreadsheet.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0916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914400"/>
                <a:gridCol w="3291840"/>
                <a:gridCol w="1764792"/>
              </a:tblGrid>
              <a:tr h="289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 (as the portal names it)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Inferred HIS layer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Patient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/m/registration/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patient_administration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Clinical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/m/clinical/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clinical_ehr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Departmental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/m/departments/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ancillary_departmental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Billing &amp;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/m/billing/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administrative_financial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/m/integration/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infrastructure_integration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Calibri"/>
              </a:rPr>
              <a:t>reception &gt; what is the patient's diagnosis</a:t>
            </a:r>
          </a:p>
          <a:p>
            <a:r>
              <a:rPr sz="1100" b="0">
                <a:solidFill>
                  <a:srgbClr val="000000"/>
                </a:solidFill>
                <a:latin typeface="Calibri"/>
              </a:rPr>
              <a:t>assistant : I can't walk you through how to look up a patient's diagnosis as reception.</a:t>
            </a:r>
          </a:p>
          <a:p>
            <a:r>
              <a:rPr sz="1100" b="0">
                <a:solidFill>
                  <a:srgbClr val="000000"/>
                </a:solidFill>
                <a:latin typeface="Calibri"/>
              </a:rPr>
              <a:t>            reception has no lawful purpose to act under 'care_coordination'; its purposes are billing_settlement, patient_registration.   [PL-01 — DPDP Act 2023 - purpose limitation]</a:t>
            </a:r>
          </a:p>
          <a:p>
            <a:r>
              <a:rPr sz="1100" b="0">
                <a:solidFill>
                  <a:srgbClr val="000000"/>
                </a:solidFill>
                <a:latin typeface="Calibri"/>
              </a:rPr>
              <a:t>            This is something nurse can do; please hand it to them.        (declined before asking for any detail)</a:t>
            </a:r>
          </a:p>
          <a:p>
            <a:r>
              <a:rPr sz="1100" b="0">
                <a:solidFill>
                  <a:srgbClr val="000000"/>
                </a:solidFill>
                <a:latin typeface="Calibri"/>
              </a:rPr>
              <a:t>The refusal comes from the same policy table that scored the benchmark. A nurse asking the same question is walked through it, each step stamped with the page the crawler found: [clinical_ehr / Condition / /m/clinical/].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 — A Public Export We Never Saw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00000"/>
                </a:solidFill>
                <a:latin typeface="Calibri"/>
              </a:rPr>
              <a:t>A hospital's export is personal data, and may never be released to a student project — which is exactly the risk this work is about. So the dataset path was proven on data we did not generate: the public Synthea sample (108 synthetic patients, 18 CSV files, one per clinical concept, a 28-column registration file with SSN, passport and licence columns). It went through the real handling gate (no synthetic manifest; a provenance note required), a column map written once, and run_pipeline.py --dataset: the same techniques and recordings, unchanged.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14600"/>
          <a:ext cx="11091672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1097280"/>
                <a:gridCol w="1097280"/>
                <a:gridCol w="1828800"/>
                <a:gridCol w="1307592"/>
              </a:tblGrid>
              <a:tr h="3124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Technique (at 'told the policy')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Excess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Records read ÷ needed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Traps held</a:t>
                      </a:r>
                    </a:p>
                  </a:txBody>
                  <a:tcPr>
                    <a:solidFill>
                      <a:srgbClr val="1D2F8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compliance-aware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1.000  ·  7/7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ai agent: claude-haiku-4-5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0.999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1.03×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ai agent: gemini-3.1-flash-lite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0.994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1.06×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ai agent: claude-sonnet-5 (told the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0.992  ·  6/7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1.06×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unconstrained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0.113  ·  0/7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548.85×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262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Calibri"/>
              </a:rPr>
              <a:t>SSN, passport and licence numbers stopped at the adapter: no technique saw them and nothing exported them. The export found five defects our own data had not — identifiers read as numbers, a blanked column counted against a file, an empty source still benchmarked, one table kept per layer, a coverage ceiling set by the wrong technique — each fixed and tested; a hospital-shaped rehearsal had found four more. The coverage ceiling is measured from the source — 5 of the 18 fields the tasks need are not in the export, 2 are not in the chosen patient's records — so no technique is blamed for what the data lacks. If a hospital export is ever released, this slide is rebuilt from its run and nothing else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08080"/>
                </a:solidFill>
                <a:latin typeface="Calibri"/>
              </a:rPr>
              <a:t>benchmark-public.json, generated 2026-09-23; four tasks; the baseline's records-read column is every patient's records for one patient's task.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the Interactive Pages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portal-cra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5011"/>
            <a:ext cx="5440680" cy="1538228"/>
          </a:xfrm>
          <a:prstGeom prst="rect">
            <a:avLst/>
          </a:prstGeom>
          <a:ln w="6350">
            <a:solidFill>
              <a:srgbClr val="80808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3099815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2F82"/>
                </a:solidFill>
                <a:latin typeface="Calibri"/>
              </a:rPr>
              <a:t>1 · The portal run</a:t>
            </a:r>
            <a:r>
              <a:rPr sz="1000"/>
              <a:t>  —  Every page each technique loaded, replayed on a map of the portal: ours 32, the AI agent 35, the baseline 440 — each total checked against the meter.</a:t>
            </a:r>
            <a:r>
              <a:rPr sz="900">
                <a:solidFill>
                  <a:srgbClr val="808080"/>
                </a:solidFill>
              </a:rPr>
              <a:t>  [portal-run.html]</a:t>
            </a:r>
          </a:p>
        </p:txBody>
      </p:sp>
      <p:pic>
        <p:nvPicPr>
          <p:cNvPr id="7" name="Picture 6" descr="dataset-pat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70604"/>
            <a:ext cx="5440680" cy="1592635"/>
          </a:xfrm>
          <a:prstGeom prst="rect">
            <a:avLst/>
          </a:prstGeom>
          <a:ln w="6350">
            <a:solidFill>
              <a:srgbClr val="80808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99632" y="3099815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2F82"/>
                </a:solidFill>
                <a:latin typeface="Calibri"/>
              </a:rPr>
              <a:t>2 · An export we never saw</a:t>
            </a:r>
            <a:r>
              <a:rPr sz="1000"/>
              <a:t>  —  Synthea's public sample, one patient's bill: the agent takes the diagnosis; ours takes three fields; the baseline reads 180,570 records.</a:t>
            </a:r>
            <a:r>
              <a:rPr sz="900">
                <a:solidFill>
                  <a:srgbClr val="808080"/>
                </a:solidFill>
              </a:rPr>
              <a:t>  [dataset-walkthrough.html]</a:t>
            </a:r>
          </a:p>
        </p:txBody>
      </p:sp>
      <p:pic>
        <p:nvPicPr>
          <p:cNvPr id="9" name="Picture 8" descr="assistant-refus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42" y="3675888"/>
            <a:ext cx="5142074" cy="1874519"/>
          </a:xfrm>
          <a:prstGeom prst="rect">
            <a:avLst/>
          </a:prstGeom>
          <a:ln w="6350">
            <a:solidFill>
              <a:srgbClr val="80808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586984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2F82"/>
                </a:solidFill>
                <a:latin typeface="Calibri"/>
              </a:rPr>
              <a:t>3 · Ask the assistant</a:t>
            </a:r>
            <a:r>
              <a:rPr sz="1000"/>
              <a:t>  —  The panel types; reception asking for a diagnosis is refused before any detail is asked, with the three checks shown. Verified against the Python assistant on load.</a:t>
            </a:r>
            <a:r>
              <a:rPr sz="900">
                <a:solidFill>
                  <a:srgbClr val="808080"/>
                </a:solidFill>
              </a:rPr>
              <a:t>  [assistant.html]</a:t>
            </a:r>
          </a:p>
        </p:txBody>
      </p:sp>
      <p:pic>
        <p:nvPicPr>
          <p:cNvPr id="11" name="Picture 10" descr="rules-vs-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5801" y="3675888"/>
            <a:ext cx="3988340" cy="1874519"/>
          </a:xfrm>
          <a:prstGeom prst="rect">
            <a:avLst/>
          </a:prstGeom>
          <a:ln w="6350">
            <a:solidFill>
              <a:srgbClr val="80808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199632" y="5586984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2F82"/>
                </a:solidFill>
                <a:latin typeface="Calibri"/>
              </a:rPr>
              <a:t>4 · Rules vs just AI</a:t>
            </a:r>
            <a:r>
              <a:rPr sz="1000"/>
              <a:t>  —  Eight tasks, five repeats, every repeat scored: close on the score, apart on traps, coverage, minimisation and repeatability.</a:t>
            </a:r>
            <a:r>
              <a:rPr sz="900">
                <a:solidFill>
                  <a:srgbClr val="808080"/>
                </a:solidFill>
              </a:rPr>
              <a:t>  [rules-vs-just-ai.html]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D2F82"/>
                </a:solidFill>
                <a:latin typeface="Calibri"/>
              </a:rPr>
              <a:t>Open docs/review/index.html — every page is offline, built from a real run of the pipeline (tools/build_review_pages.py), and shows no raw patient identifier.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1</cp:revision>
  <dcterms:created xsi:type="dcterms:W3CDTF">2026-08-27T09:57:11Z</dcterms:created>
  <dcterms:modified xsi:type="dcterms:W3CDTF">2026-08-27T10:07:40Z</dcterms:modified>
</cp:coreProperties>
</file>